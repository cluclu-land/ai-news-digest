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33C"/>
        </a:solidFill>
        <a:effectLst/>
      </p:bgPr>
    </p:bg>
    <p:spTree>
      <p:nvGrpSpPr>
        <p:cNvPr id="1" name=""/>
        <p:cNvGrpSpPr/>
        <p:nvPr/>
      </p:nvGrpSpPr>
      <p:grpSpPr/>
      <p:sp>
        <p:nvSpPr>
          <p:cNvPr id="2" name="Rectangle 1"/>
          <p:cNvSpPr/>
          <p:nvPr/>
        </p:nvSpPr>
        <p:spPr>
          <a:xfrm>
            <a:off x="1097280" y="1645920"/>
            <a:ext cx="109728" cy="329184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554480"/>
            <a:ext cx="9601200" cy="3474720"/>
          </a:xfrm>
          <a:prstGeom prst="rect">
            <a:avLst/>
          </a:prstGeom>
          <a:noFill/>
        </p:spPr>
        <p:txBody>
          <a:bodyPr wrap="square">
            <a:spAutoFit/>
          </a:bodyPr>
          <a:lstStyle/>
          <a:p>
            <a:pPr>
              <a:spcAft>
                <a:spcPts val="1400"/>
              </a:spcAft>
              <a:defRPr sz="1300" b="1">
                <a:solidFill>
                  <a:srgbClr val="2980B9"/>
                </a:solidFill>
                <a:latin typeface="Meiryo"/>
              </a:defRPr>
            </a:pPr>
            <a:r>
              <a:t>CLOUD-NATIVE &amp; ZERO-COST AUTOMATION</a:t>
            </a:r>
          </a:p>
          <a:p>
            <a:pPr>
              <a:spcAft>
                <a:spcPts val="1400"/>
              </a:spcAft>
              <a:defRPr sz="3600" b="1">
                <a:solidFill>
                  <a:srgbClr val="FFFFFF"/>
                </a:solidFill>
                <a:latin typeface="Meiryo"/>
              </a:defRPr>
            </a:pPr>
            <a:r>
              <a:t>毎朝自動更新 AIニュースまとめシステム</a:t>
            </a:r>
          </a:p>
          <a:p>
            <a:pPr>
              <a:spcAft>
                <a:spcPts val="2800"/>
              </a:spcAft>
              <a:defRPr sz="1600">
                <a:solidFill>
                  <a:srgbClr val="EBF4FC"/>
                </a:solidFill>
                <a:latin typeface="Meiryo"/>
              </a:defRPr>
            </a:pPr>
            <a:r>
              <a:t>完全無料で運用するサーバーレス情報収集・要約アーキテクチャ仕様書</a:t>
            </a:r>
          </a:p>
          <a:p>
            <a:pPr>
              <a:defRPr sz="1300">
                <a:solidFill>
                  <a:srgbClr val="94A3B8"/>
                </a:solidFill>
                <a:latin typeface="Meiryo"/>
              </a:defRPr>
            </a:pPr>
            <a:r>
              <a:t>GitHub Actions × Google Gemini API × GitHub Pages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980B9"/>
                </a:solidFill>
                <a:latin typeface="Meiryo"/>
              </a:defRPr>
            </a:pPr>
            <a:r>
              <a:t>AI NEWS DIGEST ARCHITECTURE</a:t>
            </a:r>
          </a:p>
        </p:txBody>
      </p:sp>
      <p:sp>
        <p:nvSpPr>
          <p:cNvPr id="3" name="TextBox 2"/>
          <p:cNvSpPr txBox="1"/>
          <p:nvPr/>
        </p:nvSpPr>
        <p:spPr>
          <a:xfrm>
            <a:off x="731520" y="594360"/>
            <a:ext cx="10698480" cy="548640"/>
          </a:xfrm>
          <a:prstGeom prst="rect">
            <a:avLst/>
          </a:prstGeom>
          <a:noFill/>
        </p:spPr>
        <p:txBody>
          <a:bodyPr wrap="square">
            <a:spAutoFit/>
          </a:bodyPr>
          <a:lstStyle/>
          <a:p>
            <a:pPr>
              <a:defRPr sz="2200" b="1">
                <a:solidFill>
                  <a:srgbClr val="0F233C"/>
                </a:solidFill>
                <a:latin typeface="Meiryo"/>
              </a:defRPr>
            </a:pPr>
            <a:r>
              <a:t>背景と目的: スキマ時間に1分で掴むAI動向</a:t>
            </a:r>
          </a:p>
        </p:txBody>
      </p:sp>
      <p:sp>
        <p:nvSpPr>
          <p:cNvPr id="4" name="Rectangle 3"/>
          <p:cNvSpPr/>
          <p:nvPr/>
        </p:nvSpPr>
        <p:spPr>
          <a:xfrm>
            <a:off x="731520" y="118872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572000" cy="4389120"/>
          </a:xfrm>
          <a:prstGeom prst="rect">
            <a:avLst/>
          </a:prstGeom>
          <a:noFill/>
        </p:spPr>
        <p:txBody>
          <a:bodyPr wrap="square">
            <a:spAutoFit/>
          </a:bodyPr>
          <a:lstStyle/>
          <a:p>
            <a:pPr>
              <a:spcAft>
                <a:spcPts val="1600"/>
              </a:spcAft>
              <a:defRPr sz="1800" b="1">
                <a:solidFill>
                  <a:srgbClr val="0F233C"/>
                </a:solidFill>
                <a:latin typeface="Meiryo"/>
              </a:defRPr>
            </a:pPr>
            <a:r>
              <a:t>直面していた課題</a:t>
            </a:r>
          </a:p>
          <a:p>
            <a:pPr>
              <a:defRPr b="1" sz="1300">
                <a:solidFill>
                  <a:srgbClr val="1A528A"/>
                </a:solidFill>
              </a:defRPr>
            </a:pPr>
            <a:r>
              <a:t>● AIトレンドの激流</a:t>
            </a:r>
          </a:p>
          <a:p>
            <a:pPr>
              <a:spcAft>
                <a:spcPts val="1000"/>
              </a:spcAft>
              <a:defRPr sz="1100">
                <a:solidFill>
                  <a:srgbClr val="64748B"/>
                </a:solidFill>
              </a:defRPr>
            </a:pPr>
            <a:r>
              <a:t>日進月歩で大量の情報が発信され、網羅的なキャッチアップに時間がかかる。</a:t>
            </a:r>
          </a:p>
          <a:p>
            <a:pPr>
              <a:defRPr b="1" sz="1300">
                <a:solidFill>
                  <a:srgbClr val="1A528A"/>
                </a:solidFill>
              </a:defRPr>
            </a:pPr>
            <a:r>
              <a:t>● 英語ソースの壁</a:t>
            </a:r>
          </a:p>
          <a:p>
            <a:pPr>
              <a:spcAft>
                <a:spcPts val="1000"/>
              </a:spcAft>
              <a:defRPr sz="1100">
                <a:solidFill>
                  <a:srgbClr val="64748B"/>
                </a:solidFill>
              </a:defRPr>
            </a:pPr>
            <a:r>
              <a:t>OpenAIやGoogle等の一次速報は英語が多く、朝の通勤中に読むハードルが高い。</a:t>
            </a:r>
          </a:p>
          <a:p>
            <a:pPr>
              <a:defRPr b="1" sz="1300">
                <a:solidFill>
                  <a:srgbClr val="1A528A"/>
                </a:solidFill>
              </a:defRPr>
            </a:pPr>
            <a:r>
              <a:t>● アプリ管理の煩わしさ</a:t>
            </a:r>
          </a:p>
          <a:p>
            <a:pPr>
              <a:spcAft>
                <a:spcPts val="1000"/>
              </a:spcAft>
              <a:defRPr sz="1100">
                <a:solidFill>
                  <a:srgbClr val="64748B"/>
                </a:solidFill>
              </a:defRPr>
            </a:pPr>
            <a:r>
              <a:t>専用アプリを入れたり、定期的なアカウント管理・ログインを行う手間を避けたい。</a:t>
            </a:r>
          </a:p>
          <a:p>
            <a:pPr>
              <a:defRPr b="1" sz="1300">
                <a:solidFill>
                  <a:srgbClr val="1A528A"/>
                </a:solidFill>
              </a:defRPr>
            </a:pPr>
            <a:r>
              <a:t>● 固定費はゼロにしたい</a:t>
            </a:r>
          </a:p>
          <a:p>
            <a:pPr>
              <a:spcAft>
                <a:spcPts val="1000"/>
              </a:spcAft>
              <a:defRPr sz="1100">
                <a:solidFill>
                  <a:srgbClr val="64748B"/>
                </a:solidFill>
              </a:defRPr>
            </a:pPr>
            <a:r>
              <a:t>個人利用においてサーバー維持費や高額なLLM API料金はかけたくない。</a:t>
            </a:r>
          </a:p>
        </p:txBody>
      </p:sp>
      <p:sp>
        <p:nvSpPr>
          <p:cNvPr id="7" name="Rounded Rectangle 6"/>
          <p:cNvSpPr/>
          <p:nvPr/>
        </p:nvSpPr>
        <p:spPr>
          <a:xfrm>
            <a:off x="630936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645920"/>
            <a:ext cx="4572000" cy="4389120"/>
          </a:xfrm>
          <a:prstGeom prst="rect">
            <a:avLst/>
          </a:prstGeom>
          <a:noFill/>
        </p:spPr>
        <p:txBody>
          <a:bodyPr wrap="square">
            <a:spAutoFit/>
          </a:bodyPr>
          <a:lstStyle/>
          <a:p>
            <a:pPr>
              <a:spcAft>
                <a:spcPts val="1600"/>
              </a:spcAft>
              <a:defRPr sz="1800" b="1">
                <a:solidFill>
                  <a:srgbClr val="0F233C"/>
                </a:solidFill>
                <a:latin typeface="Meiryo"/>
              </a:defRPr>
            </a:pPr>
            <a:r>
              <a:t>本システムによる解決策</a:t>
            </a:r>
          </a:p>
          <a:p>
            <a:pPr>
              <a:defRPr b="1" sz="1300">
                <a:solidFill>
                  <a:srgbClr val="166534"/>
                </a:solidFill>
              </a:defRPr>
            </a:pPr>
            <a:r>
              <a:t>✔ 毎朝6:30の全自動実行</a:t>
            </a:r>
          </a:p>
          <a:p>
            <a:pPr>
              <a:spcAft>
                <a:spcPts val="1000"/>
              </a:spcAft>
              <a:defRPr sz="1100">
                <a:solidFill>
                  <a:srgbClr val="64748B"/>
                </a:solidFill>
              </a:defRPr>
            </a:pPr>
            <a:r>
              <a:t>PCを起動していなくてもクラウド（GitHub Actions）が自律稼働し収集・要約。</a:t>
            </a:r>
          </a:p>
          <a:p>
            <a:pPr>
              <a:defRPr b="1" sz="1300">
                <a:solidFill>
                  <a:srgbClr val="166534"/>
                </a:solidFill>
              </a:defRPr>
            </a:pPr>
            <a:r>
              <a:t>✔ Geminiによる構造化要約</a:t>
            </a:r>
          </a:p>
          <a:p>
            <a:pPr>
              <a:spcAft>
                <a:spcPts val="1000"/>
              </a:spcAft>
              <a:defRPr sz="1100">
                <a:solidFill>
                  <a:srgbClr val="64748B"/>
                </a:solidFill>
              </a:defRPr>
            </a:pPr>
            <a:r>
              <a:t>3行要点＋一言ポイント＋タグで、1記事あたり10秒で本質が理解可能。</a:t>
            </a:r>
          </a:p>
          <a:p>
            <a:pPr>
              <a:defRPr b="1" sz="1300">
                <a:solidFill>
                  <a:srgbClr val="166534"/>
                </a:solidFill>
              </a:defRPr>
            </a:pPr>
            <a:r>
              <a:t>✔ ブラウザ完結（URL共有）</a:t>
            </a:r>
          </a:p>
          <a:p>
            <a:pPr>
              <a:spcAft>
                <a:spcPts val="1000"/>
              </a:spcAft>
              <a:defRPr sz="1100">
                <a:solidFill>
                  <a:srgbClr val="64748B"/>
                </a:solidFill>
              </a:defRPr>
            </a:pPr>
            <a:r>
              <a:t>アプリ不要。SafariやChromeのホーム画面追加でネイティブ同様の操作性。</a:t>
            </a:r>
          </a:p>
          <a:p>
            <a:pPr>
              <a:defRPr b="1" sz="1300">
                <a:solidFill>
                  <a:srgbClr val="166534"/>
                </a:solidFill>
              </a:defRPr>
            </a:pPr>
            <a:r>
              <a:t>✔ 完全無料（維持費0円）</a:t>
            </a:r>
          </a:p>
          <a:p>
            <a:pPr>
              <a:spcAft>
                <a:spcPts val="1000"/>
              </a:spcAft>
              <a:defRPr sz="1100">
                <a:solidFill>
                  <a:srgbClr val="64748B"/>
                </a:solidFill>
              </a:defRPr>
            </a:pPr>
            <a:r>
              <a:t>GitHubの無料枠とGemini Free Tierの最適化により、永久に費用ゼロ。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980B9"/>
                </a:solidFill>
                <a:latin typeface="Meiryo"/>
              </a:defRPr>
            </a:pPr>
            <a:r>
              <a:t>AI NEWS DIGEST ARCHITECTURE</a:t>
            </a:r>
          </a:p>
        </p:txBody>
      </p:sp>
      <p:sp>
        <p:nvSpPr>
          <p:cNvPr id="3" name="TextBox 2"/>
          <p:cNvSpPr txBox="1"/>
          <p:nvPr/>
        </p:nvSpPr>
        <p:spPr>
          <a:xfrm>
            <a:off x="731520" y="594360"/>
            <a:ext cx="10698480" cy="548640"/>
          </a:xfrm>
          <a:prstGeom prst="rect">
            <a:avLst/>
          </a:prstGeom>
          <a:noFill/>
        </p:spPr>
        <p:txBody>
          <a:bodyPr wrap="square">
            <a:spAutoFit/>
          </a:bodyPr>
          <a:lstStyle/>
          <a:p>
            <a:pPr>
              <a:defRPr sz="2200" b="1">
                <a:solidFill>
                  <a:srgbClr val="0F233C"/>
                </a:solidFill>
                <a:latin typeface="Meiryo"/>
              </a:defRPr>
            </a:pPr>
            <a:r>
              <a:t>システム全体アーキテクチャ: 4つのレイヤー構成</a:t>
            </a:r>
          </a:p>
        </p:txBody>
      </p:sp>
      <p:sp>
        <p:nvSpPr>
          <p:cNvPr id="4" name="Rectangle 3"/>
          <p:cNvSpPr/>
          <p:nvPr/>
        </p:nvSpPr>
        <p:spPr>
          <a:xfrm>
            <a:off x="731520" y="118872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2468880" cy="822960"/>
          </a:xfrm>
          <a:prstGeom prst="rect">
            <a:avLst/>
          </a:prstGeom>
          <a:solidFill>
            <a:srgbClr val="1A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08760"/>
            <a:ext cx="2194560" cy="731520"/>
          </a:xfrm>
          <a:prstGeom prst="rect">
            <a:avLst/>
          </a:prstGeom>
          <a:noFill/>
        </p:spPr>
        <p:txBody>
          <a:bodyPr wrap="square">
            <a:spAutoFit/>
          </a:bodyPr>
          <a:lstStyle/>
          <a:p>
            <a:pPr>
              <a:defRPr sz="1300" b="1">
                <a:solidFill>
                  <a:srgbClr val="FFFFFF"/>
                </a:solidFill>
                <a:latin typeface="Meiryo"/>
              </a:defRPr>
            </a:pPr>
            <a:r>
              <a:t>1. 収集レイヤー</a:t>
            </a:r>
          </a:p>
          <a:p>
            <a:pPr>
              <a:defRPr sz="900">
                <a:solidFill>
                  <a:srgbClr val="EBF4FC"/>
                </a:solidFill>
              </a:defRPr>
            </a:pPr>
            <a:r>
              <a:t>Data Collection</a:t>
            </a:r>
          </a:p>
        </p:txBody>
      </p:sp>
      <p:sp>
        <p:nvSpPr>
          <p:cNvPr id="8" name="TextBox 7"/>
          <p:cNvSpPr txBox="1"/>
          <p:nvPr/>
        </p:nvSpPr>
        <p:spPr>
          <a:xfrm>
            <a:off x="868680" y="2377440"/>
            <a:ext cx="2194560" cy="3566160"/>
          </a:xfrm>
          <a:prstGeom prst="rect">
            <a:avLst/>
          </a:prstGeom>
          <a:noFill/>
        </p:spPr>
        <p:txBody>
          <a:bodyPr wrap="square">
            <a:spAutoFit/>
          </a:bodyPr>
          <a:lstStyle/>
          <a:p>
            <a:pPr>
              <a:spcAft>
                <a:spcPts val="800"/>
              </a:spcAft>
              <a:defRPr sz="1100">
                <a:solidFill>
                  <a:srgbClr val="1E293B"/>
                </a:solidFill>
              </a:defRPr>
            </a:pPr>
            <a:r>
              <a:t>• 主要AI情報源のRSS</a:t>
            </a:r>
          </a:p>
          <a:p>
            <a:pPr>
              <a:spcAft>
                <a:spcPts val="800"/>
              </a:spcAft>
              <a:defRPr sz="1100">
                <a:solidFill>
                  <a:srgbClr val="1E293B"/>
                </a:solidFill>
              </a:defRPr>
            </a:pPr>
            <a:r>
              <a:t>• OpenAI公式 / Google AI</a:t>
            </a:r>
          </a:p>
          <a:p>
            <a:pPr>
              <a:spcAft>
                <a:spcPts val="800"/>
              </a:spcAft>
              <a:defRPr sz="1100">
                <a:solidFill>
                  <a:srgbClr val="1E293B"/>
                </a:solidFill>
              </a:defRPr>
            </a:pPr>
            <a:r>
              <a:t>• TechCrunch / The Verge</a:t>
            </a:r>
          </a:p>
          <a:p>
            <a:pPr>
              <a:spcAft>
                <a:spcPts val="800"/>
              </a:spcAft>
              <a:defRPr sz="1100">
                <a:solidFill>
                  <a:srgbClr val="1E293B"/>
                </a:solidFill>
              </a:defRPr>
            </a:pPr>
            <a:r>
              <a:t>• ITmedia AI+ (国内)</a:t>
            </a:r>
          </a:p>
          <a:p>
            <a:pPr>
              <a:spcAft>
                <a:spcPts val="800"/>
              </a:spcAft>
              <a:defRPr sz="1100">
                <a:solidFill>
                  <a:srgbClr val="1E293B"/>
                </a:solidFill>
              </a:defRPr>
            </a:pPr>
            <a:r>
              <a:t>• 重複URLの自動排除</a:t>
            </a:r>
          </a:p>
          <a:p>
            <a:pPr>
              <a:spcAft>
                <a:spcPts val="800"/>
              </a:spcAft>
              <a:defRPr sz="1100">
                <a:solidFill>
                  <a:srgbClr val="1E293B"/>
                </a:solidFill>
              </a:defRPr>
            </a:pPr>
            <a:r>
              <a:t>• 最新順ソート &amp; 抽出</a:t>
            </a:r>
          </a:p>
        </p:txBody>
      </p:sp>
      <p:sp>
        <p:nvSpPr>
          <p:cNvPr id="9" name="Rounded Rectangle 8"/>
          <p:cNvSpPr/>
          <p:nvPr/>
        </p:nvSpPr>
        <p:spPr>
          <a:xfrm>
            <a:off x="3456432" y="146304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56432" y="1463040"/>
            <a:ext cx="2468880" cy="822960"/>
          </a:xfrm>
          <a:prstGeom prst="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3592" y="1508760"/>
            <a:ext cx="2194560" cy="731520"/>
          </a:xfrm>
          <a:prstGeom prst="rect">
            <a:avLst/>
          </a:prstGeom>
          <a:noFill/>
        </p:spPr>
        <p:txBody>
          <a:bodyPr wrap="square">
            <a:spAutoFit/>
          </a:bodyPr>
          <a:lstStyle/>
          <a:p>
            <a:pPr>
              <a:defRPr sz="1300" b="1">
                <a:solidFill>
                  <a:srgbClr val="FFFFFF"/>
                </a:solidFill>
                <a:latin typeface="Meiryo"/>
              </a:defRPr>
            </a:pPr>
            <a:r>
              <a:t>2. 自動化・統制</a:t>
            </a:r>
          </a:p>
          <a:p>
            <a:pPr>
              <a:defRPr sz="900">
                <a:solidFill>
                  <a:srgbClr val="EBF4FC"/>
                </a:solidFill>
              </a:defRPr>
            </a:pPr>
            <a:r>
              <a:t>Orchestration</a:t>
            </a:r>
          </a:p>
        </p:txBody>
      </p:sp>
      <p:sp>
        <p:nvSpPr>
          <p:cNvPr id="12" name="TextBox 11"/>
          <p:cNvSpPr txBox="1"/>
          <p:nvPr/>
        </p:nvSpPr>
        <p:spPr>
          <a:xfrm>
            <a:off x="3593592" y="2377440"/>
            <a:ext cx="2194560" cy="3566160"/>
          </a:xfrm>
          <a:prstGeom prst="rect">
            <a:avLst/>
          </a:prstGeom>
          <a:noFill/>
        </p:spPr>
        <p:txBody>
          <a:bodyPr wrap="square">
            <a:spAutoFit/>
          </a:bodyPr>
          <a:lstStyle/>
          <a:p>
            <a:pPr>
              <a:spcAft>
                <a:spcPts val="800"/>
              </a:spcAft>
              <a:defRPr sz="1100">
                <a:solidFill>
                  <a:srgbClr val="1E293B"/>
                </a:solidFill>
              </a:defRPr>
            </a:pPr>
            <a:r>
              <a:t>• GitHub Actions</a:t>
            </a:r>
          </a:p>
          <a:p>
            <a:pPr>
              <a:spcAft>
                <a:spcPts val="800"/>
              </a:spcAft>
              <a:defRPr sz="1100">
                <a:solidFill>
                  <a:srgbClr val="1E293B"/>
                </a:solidFill>
              </a:defRPr>
            </a:pPr>
            <a:r>
              <a:t>• 毎朝JST 6:30 Cron実行</a:t>
            </a:r>
          </a:p>
          <a:p>
            <a:pPr>
              <a:spcAft>
                <a:spcPts val="800"/>
              </a:spcAft>
              <a:defRPr sz="1100">
                <a:solidFill>
                  <a:srgbClr val="1E293B"/>
                </a:solidFill>
              </a:defRPr>
            </a:pPr>
            <a:r>
              <a:t>• 手動トリガー対応</a:t>
            </a:r>
          </a:p>
          <a:p>
            <a:pPr>
              <a:spcAft>
                <a:spcPts val="800"/>
              </a:spcAft>
              <a:defRPr sz="1100">
                <a:solidFill>
                  <a:srgbClr val="1E293B"/>
                </a:solidFill>
              </a:defRPr>
            </a:pPr>
            <a:r>
              <a:t>• Ubuntu最新ランナー</a:t>
            </a:r>
          </a:p>
          <a:p>
            <a:pPr>
              <a:spcAft>
                <a:spcPts val="800"/>
              </a:spcAft>
              <a:defRPr sz="1100">
                <a:solidFill>
                  <a:srgbClr val="1E293B"/>
                </a:solidFill>
              </a:defRPr>
            </a:pPr>
            <a:r>
              <a:t>• APIキーをSecrets保管</a:t>
            </a:r>
          </a:p>
          <a:p>
            <a:pPr>
              <a:spcAft>
                <a:spcPts val="800"/>
              </a:spcAft>
              <a:defRPr sz="1100">
                <a:solidFill>
                  <a:srgbClr val="1E293B"/>
                </a:solidFill>
              </a:defRPr>
            </a:pPr>
            <a:r>
              <a:t>• 平均実行時間: 約35秒</a:t>
            </a:r>
          </a:p>
        </p:txBody>
      </p:sp>
      <p:sp>
        <p:nvSpPr>
          <p:cNvPr id="13" name="Rounded Rectangle 12"/>
          <p:cNvSpPr/>
          <p:nvPr/>
        </p:nvSpPr>
        <p:spPr>
          <a:xfrm>
            <a:off x="6181344" y="146304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1463040"/>
            <a:ext cx="2468880" cy="82296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1508760"/>
            <a:ext cx="2194560" cy="731520"/>
          </a:xfrm>
          <a:prstGeom prst="rect">
            <a:avLst/>
          </a:prstGeom>
          <a:noFill/>
        </p:spPr>
        <p:txBody>
          <a:bodyPr wrap="square">
            <a:spAutoFit/>
          </a:bodyPr>
          <a:lstStyle/>
          <a:p>
            <a:pPr>
              <a:defRPr sz="1300" b="1">
                <a:solidFill>
                  <a:srgbClr val="FFFFFF"/>
                </a:solidFill>
                <a:latin typeface="Meiryo"/>
              </a:defRPr>
            </a:pPr>
            <a:r>
              <a:t>3. AI要約エンジン</a:t>
            </a:r>
          </a:p>
          <a:p>
            <a:pPr>
              <a:defRPr sz="900">
                <a:solidFill>
                  <a:srgbClr val="EBF4FC"/>
                </a:solidFill>
              </a:defRPr>
            </a:pPr>
            <a:r>
              <a:t>AI Summarization</a:t>
            </a:r>
          </a:p>
        </p:txBody>
      </p:sp>
      <p:sp>
        <p:nvSpPr>
          <p:cNvPr id="16" name="TextBox 15"/>
          <p:cNvSpPr txBox="1"/>
          <p:nvPr/>
        </p:nvSpPr>
        <p:spPr>
          <a:xfrm>
            <a:off x="6318504" y="2377440"/>
            <a:ext cx="2194560" cy="3566160"/>
          </a:xfrm>
          <a:prstGeom prst="rect">
            <a:avLst/>
          </a:prstGeom>
          <a:noFill/>
        </p:spPr>
        <p:txBody>
          <a:bodyPr wrap="square">
            <a:spAutoFit/>
          </a:bodyPr>
          <a:lstStyle/>
          <a:p>
            <a:pPr>
              <a:spcAft>
                <a:spcPts val="800"/>
              </a:spcAft>
              <a:defRPr sz="1100">
                <a:solidFill>
                  <a:srgbClr val="1E293B"/>
                </a:solidFill>
              </a:defRPr>
            </a:pPr>
            <a:r>
              <a:t>• Google Gemini API</a:t>
            </a:r>
          </a:p>
          <a:p>
            <a:pPr>
              <a:spcAft>
                <a:spcPts val="800"/>
              </a:spcAft>
              <a:defRPr sz="1100">
                <a:solidFill>
                  <a:srgbClr val="1E293B"/>
                </a:solidFill>
              </a:defRPr>
            </a:pPr>
            <a:r>
              <a:t>• gemini-2.5-flash 採用</a:t>
            </a:r>
          </a:p>
          <a:p>
            <a:pPr>
              <a:spcAft>
                <a:spcPts val="800"/>
              </a:spcAft>
              <a:defRPr sz="1100">
                <a:solidFill>
                  <a:srgbClr val="1E293B"/>
                </a:solidFill>
              </a:defRPr>
            </a:pPr>
            <a:r>
              <a:t>• 一括構造化JSONプロンプト</a:t>
            </a:r>
          </a:p>
          <a:p>
            <a:pPr>
              <a:spcAft>
                <a:spcPts val="800"/>
              </a:spcAft>
              <a:defRPr sz="1100">
                <a:solidFill>
                  <a:srgbClr val="1E293B"/>
                </a:solidFill>
              </a:defRPr>
            </a:pPr>
            <a:r>
              <a:t>• 日本語3行要約の生成</a:t>
            </a:r>
          </a:p>
          <a:p>
            <a:pPr>
              <a:spcAft>
                <a:spcPts val="800"/>
              </a:spcAft>
              <a:defRPr sz="1100">
                <a:solidFill>
                  <a:srgbClr val="1E293B"/>
                </a:solidFill>
              </a:defRPr>
            </a:pPr>
            <a:r>
              <a:t>• 「ここがポイント」抽出</a:t>
            </a:r>
          </a:p>
          <a:p>
            <a:pPr>
              <a:spcAft>
                <a:spcPts val="800"/>
              </a:spcAft>
              <a:defRPr sz="1100">
                <a:solidFill>
                  <a:srgbClr val="1E293B"/>
                </a:solidFill>
              </a:defRPr>
            </a:pPr>
            <a:r>
              <a:t>• API消費を最小1回に圧縮</a:t>
            </a:r>
          </a:p>
        </p:txBody>
      </p:sp>
      <p:sp>
        <p:nvSpPr>
          <p:cNvPr id="17" name="Rounded Rectangle 16"/>
          <p:cNvSpPr/>
          <p:nvPr/>
        </p:nvSpPr>
        <p:spPr>
          <a:xfrm>
            <a:off x="8906256" y="146304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06256" y="1463040"/>
            <a:ext cx="2468880" cy="822960"/>
          </a:xfrm>
          <a:prstGeom prst="rect">
            <a:avLst/>
          </a:prstGeom>
          <a:solidFill>
            <a:srgbClr val="1A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43416" y="1508760"/>
            <a:ext cx="2194560" cy="731520"/>
          </a:xfrm>
          <a:prstGeom prst="rect">
            <a:avLst/>
          </a:prstGeom>
          <a:noFill/>
        </p:spPr>
        <p:txBody>
          <a:bodyPr wrap="square">
            <a:spAutoFit/>
          </a:bodyPr>
          <a:lstStyle/>
          <a:p>
            <a:pPr>
              <a:defRPr sz="1300" b="1">
                <a:solidFill>
                  <a:srgbClr val="FFFFFF"/>
                </a:solidFill>
                <a:latin typeface="Meiryo"/>
              </a:defRPr>
            </a:pPr>
            <a:r>
              <a:t>4. 配信・閲覧</a:t>
            </a:r>
          </a:p>
          <a:p>
            <a:pPr>
              <a:defRPr sz="900">
                <a:solidFill>
                  <a:srgbClr val="EBF4FC"/>
                </a:solidFill>
              </a:defRPr>
            </a:pPr>
            <a:r>
              <a:t>Delivery &amp; UI</a:t>
            </a:r>
          </a:p>
        </p:txBody>
      </p:sp>
      <p:sp>
        <p:nvSpPr>
          <p:cNvPr id="20" name="TextBox 19"/>
          <p:cNvSpPr txBox="1"/>
          <p:nvPr/>
        </p:nvSpPr>
        <p:spPr>
          <a:xfrm>
            <a:off x="9043416" y="2377440"/>
            <a:ext cx="2194560" cy="3566160"/>
          </a:xfrm>
          <a:prstGeom prst="rect">
            <a:avLst/>
          </a:prstGeom>
          <a:noFill/>
        </p:spPr>
        <p:txBody>
          <a:bodyPr wrap="square">
            <a:spAutoFit/>
          </a:bodyPr>
          <a:lstStyle/>
          <a:p>
            <a:pPr>
              <a:spcAft>
                <a:spcPts val="800"/>
              </a:spcAft>
              <a:defRPr sz="1100">
                <a:solidFill>
                  <a:srgbClr val="1E293B"/>
                </a:solidFill>
              </a:defRPr>
            </a:pPr>
            <a:r>
              <a:t>• GitHub Pages</a:t>
            </a:r>
          </a:p>
          <a:p>
            <a:pPr>
              <a:spcAft>
                <a:spcPts val="800"/>
              </a:spcAft>
              <a:defRPr sz="1100">
                <a:solidFill>
                  <a:srgbClr val="1E293B"/>
                </a:solidFill>
              </a:defRPr>
            </a:pPr>
            <a:r>
              <a:t>• 静的HTML (Jinja2生成)</a:t>
            </a:r>
          </a:p>
          <a:p>
            <a:pPr>
              <a:spcAft>
                <a:spcPts val="800"/>
              </a:spcAft>
              <a:defRPr sz="1100">
                <a:solidFill>
                  <a:srgbClr val="1E293B"/>
                </a:solidFill>
              </a:defRPr>
            </a:pPr>
            <a:r>
              <a:t>• スマホ特化カード型UI</a:t>
            </a:r>
          </a:p>
          <a:p>
            <a:pPr>
              <a:spcAft>
                <a:spcPts val="800"/>
              </a:spcAft>
              <a:defRPr sz="1100">
                <a:solidFill>
                  <a:srgbClr val="1E293B"/>
                </a:solidFill>
              </a:defRPr>
            </a:pPr>
            <a:r>
              <a:t>• ダークモード自動追従</a:t>
            </a:r>
          </a:p>
          <a:p>
            <a:pPr>
              <a:spcAft>
                <a:spcPts val="800"/>
              </a:spcAft>
              <a:defRPr sz="1100">
                <a:solidFill>
                  <a:srgbClr val="1E293B"/>
                </a:solidFill>
              </a:defRPr>
            </a:pPr>
            <a:r>
              <a:t>• ホーム画面追加でPWAライク</a:t>
            </a:r>
          </a:p>
          <a:p>
            <a:pPr>
              <a:spcAft>
                <a:spcPts val="800"/>
              </a:spcAft>
              <a:defRPr sz="1100">
                <a:solidFill>
                  <a:srgbClr val="1E293B"/>
                </a:solidFill>
              </a:defRPr>
            </a:pPr>
            <a:r>
              <a:t>• URLだけで全端末から閲覧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980B9"/>
                </a:solidFill>
                <a:latin typeface="Meiryo"/>
              </a:defRPr>
            </a:pPr>
            <a:r>
              <a:t>AI NEWS DIGEST ARCHITECTURE</a:t>
            </a:r>
          </a:p>
        </p:txBody>
      </p:sp>
      <p:sp>
        <p:nvSpPr>
          <p:cNvPr id="3" name="TextBox 2"/>
          <p:cNvSpPr txBox="1"/>
          <p:nvPr/>
        </p:nvSpPr>
        <p:spPr>
          <a:xfrm>
            <a:off x="731520" y="594360"/>
            <a:ext cx="10698480" cy="548640"/>
          </a:xfrm>
          <a:prstGeom prst="rect">
            <a:avLst/>
          </a:prstGeom>
          <a:noFill/>
        </p:spPr>
        <p:txBody>
          <a:bodyPr wrap="square">
            <a:spAutoFit/>
          </a:bodyPr>
          <a:lstStyle/>
          <a:p>
            <a:pPr>
              <a:defRPr sz="2200" b="1">
                <a:solidFill>
                  <a:srgbClr val="0F233C"/>
                </a:solidFill>
                <a:latin typeface="Meiryo"/>
              </a:defRPr>
            </a:pPr>
            <a:r>
              <a:t>採用技術スタックと選定理由</a:t>
            </a:r>
          </a:p>
        </p:txBody>
      </p:sp>
      <p:sp>
        <p:nvSpPr>
          <p:cNvPr id="4" name="Rectangle 3"/>
          <p:cNvSpPr/>
          <p:nvPr/>
        </p:nvSpPr>
        <p:spPr>
          <a:xfrm>
            <a:off x="731520" y="118872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6984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10149840" cy="868680"/>
          </a:xfrm>
          <a:prstGeom prst="rect">
            <a:avLst/>
          </a:prstGeom>
          <a:noFill/>
        </p:spPr>
        <p:txBody>
          <a:bodyPr wrap="square">
            <a:spAutoFit/>
          </a:bodyPr>
          <a:lstStyle/>
          <a:p>
            <a:pPr>
              <a:defRPr sz="1500" b="1">
                <a:solidFill>
                  <a:srgbClr val="0F233C"/>
                </a:solidFill>
                <a:latin typeface="Meiryo"/>
              </a:defRPr>
            </a:pPr>
            <a:r>
              <a:t>GitHub Actions</a:t>
            </a:r>
          </a:p>
          <a:p>
            <a:pPr>
              <a:defRPr b="1" sz="1100">
                <a:solidFill>
                  <a:srgbClr val="2980B9"/>
                </a:solidFill>
              </a:defRPr>
            </a:pPr>
            <a:r>
              <a:t>役割: サーバーレスCron実行</a:t>
            </a:r>
          </a:p>
          <a:p>
            <a:pPr>
              <a:defRPr sz="1050">
                <a:solidFill>
                  <a:srgbClr val="64748B"/>
                </a:solidFill>
              </a:defRPr>
            </a:pPr>
            <a:r>
              <a:t>選定理由: サーバー構築・保守が完全不要。月2,000分の無料枠があり、リポジトリと一体でコード・Secrets・実行履歴を一元管理できるため。</a:t>
            </a:r>
          </a:p>
        </p:txBody>
      </p:sp>
      <p:sp>
        <p:nvSpPr>
          <p:cNvPr id="7" name="Rounded Rectangle 6"/>
          <p:cNvSpPr/>
          <p:nvPr/>
        </p:nvSpPr>
        <p:spPr>
          <a:xfrm>
            <a:off x="731520" y="2651760"/>
            <a:ext cx="106984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43200"/>
            <a:ext cx="10149840" cy="868680"/>
          </a:xfrm>
          <a:prstGeom prst="rect">
            <a:avLst/>
          </a:prstGeom>
          <a:noFill/>
        </p:spPr>
        <p:txBody>
          <a:bodyPr wrap="square">
            <a:spAutoFit/>
          </a:bodyPr>
          <a:lstStyle/>
          <a:p>
            <a:pPr>
              <a:defRPr sz="1500" b="1">
                <a:solidFill>
                  <a:srgbClr val="0F233C"/>
                </a:solidFill>
                <a:latin typeface="Meiryo"/>
              </a:defRPr>
            </a:pPr>
            <a:r>
              <a:t>Google Gemini API</a:t>
            </a:r>
          </a:p>
          <a:p>
            <a:pPr>
              <a:defRPr b="1" sz="1100">
                <a:solidFill>
                  <a:srgbClr val="2980B9"/>
                </a:solidFill>
              </a:defRPr>
            </a:pPr>
            <a:r>
              <a:t>役割: 高速・高精度な言語モデル</a:t>
            </a:r>
          </a:p>
          <a:p>
            <a:pPr>
              <a:defRPr sz="1050">
                <a:solidFill>
                  <a:srgbClr val="64748B"/>
                </a:solidFill>
              </a:defRPr>
            </a:pPr>
            <a:r>
              <a:t>選定理由: gemini-2.5-flashの高速レスポンスと高い日本語要約力。何より無料利用枠（Free Tier）が充実しており、個人開発で費用が一切発生しないため。</a:t>
            </a:r>
          </a:p>
        </p:txBody>
      </p:sp>
      <p:sp>
        <p:nvSpPr>
          <p:cNvPr id="9" name="Rounded Rectangle 8"/>
          <p:cNvSpPr/>
          <p:nvPr/>
        </p:nvSpPr>
        <p:spPr>
          <a:xfrm>
            <a:off x="731520" y="3840480"/>
            <a:ext cx="106984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931920"/>
            <a:ext cx="10149840" cy="868680"/>
          </a:xfrm>
          <a:prstGeom prst="rect">
            <a:avLst/>
          </a:prstGeom>
          <a:noFill/>
        </p:spPr>
        <p:txBody>
          <a:bodyPr wrap="square">
            <a:spAutoFit/>
          </a:bodyPr>
          <a:lstStyle/>
          <a:p>
            <a:pPr>
              <a:defRPr sz="1500" b="1">
                <a:solidFill>
                  <a:srgbClr val="0F233C"/>
                </a:solidFill>
                <a:latin typeface="Meiryo"/>
              </a:defRPr>
            </a:pPr>
            <a:r>
              <a:t>GitHub Pages</a:t>
            </a:r>
          </a:p>
          <a:p>
            <a:pPr>
              <a:defRPr b="1" sz="1100">
                <a:solidFill>
                  <a:srgbClr val="2980B9"/>
                </a:solidFill>
              </a:defRPr>
            </a:pPr>
            <a:r>
              <a:t>役割: 無料静的ホスティング</a:t>
            </a:r>
          </a:p>
          <a:p>
            <a:pPr>
              <a:defRPr sz="1050">
                <a:solidFill>
                  <a:srgbClr val="64748B"/>
                </a:solidFill>
              </a:defRPr>
            </a:pPr>
            <a:r>
              <a:t>選定理由: リポジトリの docs フォルダから直接Webサイトを公開可能。サーバー代が永久無料であり、スマホやPCのブラウザからURLを開くだけで閲覧できるため。</a:t>
            </a:r>
          </a:p>
        </p:txBody>
      </p:sp>
      <p:sp>
        <p:nvSpPr>
          <p:cNvPr id="11" name="Rounded Rectangle 10"/>
          <p:cNvSpPr/>
          <p:nvPr/>
        </p:nvSpPr>
        <p:spPr>
          <a:xfrm>
            <a:off x="731520" y="5029200"/>
            <a:ext cx="106984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120640"/>
            <a:ext cx="10149840" cy="868680"/>
          </a:xfrm>
          <a:prstGeom prst="rect">
            <a:avLst/>
          </a:prstGeom>
          <a:noFill/>
        </p:spPr>
        <p:txBody>
          <a:bodyPr wrap="square">
            <a:spAutoFit/>
          </a:bodyPr>
          <a:lstStyle/>
          <a:p>
            <a:pPr>
              <a:defRPr sz="1500" b="1">
                <a:solidFill>
                  <a:srgbClr val="0F233C"/>
                </a:solidFill>
                <a:latin typeface="Meiryo"/>
              </a:defRPr>
            </a:pPr>
            <a:r>
              <a:t>Python &amp; Jinja2</a:t>
            </a:r>
          </a:p>
          <a:p>
            <a:pPr>
              <a:defRPr b="1" sz="1100">
                <a:solidFill>
                  <a:srgbClr val="2980B9"/>
                </a:solidFill>
              </a:defRPr>
            </a:pPr>
            <a:r>
              <a:t>役割: スクリプト＆HTMLテンプレート</a:t>
            </a:r>
          </a:p>
          <a:p>
            <a:pPr>
              <a:defRPr sz="1050">
                <a:solidFill>
                  <a:srgbClr val="64748B"/>
                </a:solidFill>
              </a:defRPr>
            </a:pPr>
            <a:r>
              <a:t>選定理由: feedparserやbeautifulsoup4による迅速なRSS取得と、Jinja2による柔軟で美しいレスポンシブHTML生成が最小限の依存関係で実現できるため。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980B9"/>
                </a:solidFill>
                <a:latin typeface="Meiryo"/>
              </a:defRPr>
            </a:pPr>
            <a:r>
              <a:t>AI NEWS DIGEST ARCHITECTURE</a:t>
            </a:r>
          </a:p>
        </p:txBody>
      </p:sp>
      <p:sp>
        <p:nvSpPr>
          <p:cNvPr id="3" name="TextBox 2"/>
          <p:cNvSpPr txBox="1"/>
          <p:nvPr/>
        </p:nvSpPr>
        <p:spPr>
          <a:xfrm>
            <a:off x="731520" y="594360"/>
            <a:ext cx="10698480" cy="548640"/>
          </a:xfrm>
          <a:prstGeom prst="rect">
            <a:avLst/>
          </a:prstGeom>
          <a:noFill/>
        </p:spPr>
        <p:txBody>
          <a:bodyPr wrap="square">
            <a:spAutoFit/>
          </a:bodyPr>
          <a:lstStyle/>
          <a:p>
            <a:pPr>
              <a:defRPr sz="2200" b="1">
                <a:solidFill>
                  <a:srgbClr val="0F233C"/>
                </a:solidFill>
                <a:latin typeface="Meiryo"/>
              </a:defRPr>
            </a:pPr>
            <a:r>
              <a:t>完全無料運用のメカニズム: 各社無料枠の最適化</a:t>
            </a:r>
          </a:p>
        </p:txBody>
      </p:sp>
      <p:sp>
        <p:nvSpPr>
          <p:cNvPr id="4" name="Rectangle 3"/>
          <p:cNvSpPr/>
          <p:nvPr/>
        </p:nvSpPr>
        <p:spPr>
          <a:xfrm>
            <a:off x="731520" y="118872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36499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2999232" cy="731520"/>
          </a:xfrm>
          <a:prstGeom prst="rect">
            <a:avLst/>
          </a:prstGeom>
          <a:noFill/>
        </p:spPr>
        <p:txBody>
          <a:bodyPr wrap="square">
            <a:spAutoFit/>
          </a:bodyPr>
          <a:lstStyle/>
          <a:p>
            <a:pPr>
              <a:defRPr sz="1400" b="1">
                <a:solidFill>
                  <a:srgbClr val="0F233C"/>
                </a:solidFill>
                <a:latin typeface="Meiryo"/>
              </a:defRPr>
            </a:pPr>
            <a:r>
              <a:t>GitHub Actions 実行時間</a:t>
            </a:r>
          </a:p>
          <a:p>
            <a:pPr>
              <a:spcAft>
                <a:spcPts val="1200"/>
              </a:spcAft>
              <a:defRPr b="1" sz="1200">
                <a:solidFill>
                  <a:srgbClr val="166534"/>
                </a:solidFill>
              </a:defRPr>
            </a:pPr>
            <a:r>
              <a:t>月2,000分 無料枠</a:t>
            </a:r>
          </a:p>
        </p:txBody>
      </p:sp>
      <p:sp>
        <p:nvSpPr>
          <p:cNvPr id="7" name="TextBox 6"/>
          <p:cNvSpPr txBox="1"/>
          <p:nvPr/>
        </p:nvSpPr>
        <p:spPr>
          <a:xfrm>
            <a:off x="914400" y="2468880"/>
            <a:ext cx="2999232" cy="3474720"/>
          </a:xfrm>
          <a:prstGeom prst="rect">
            <a:avLst/>
          </a:prstGeom>
          <a:noFill/>
        </p:spPr>
        <p:txBody>
          <a:bodyPr wrap="square">
            <a:spAutoFit/>
          </a:bodyPr>
          <a:lstStyle/>
          <a:p>
            <a:pPr>
              <a:spcAft>
                <a:spcPts val="1000"/>
              </a:spcAft>
              <a:defRPr sz="1100">
                <a:solidFill>
                  <a:srgbClr val="1E293B"/>
                </a:solidFill>
              </a:defRPr>
            </a:pPr>
            <a:r>
              <a:t>✔ 1回の実行時間: 約35秒</a:t>
            </a:r>
          </a:p>
          <a:p>
            <a:pPr>
              <a:spcAft>
                <a:spcPts val="1000"/>
              </a:spcAft>
              <a:defRPr sz="1100">
                <a:solidFill>
                  <a:srgbClr val="1E293B"/>
                </a:solidFill>
              </a:defRPr>
            </a:pPr>
            <a:r>
              <a:t>✔ 月間合計: 35秒 × 30日 ＝ 約18分/月</a:t>
            </a:r>
          </a:p>
          <a:p>
            <a:pPr>
              <a:spcAft>
                <a:spcPts val="1000"/>
              </a:spcAft>
              <a:defRPr sz="1100">
                <a:solidFill>
                  <a:srgbClr val="1E293B"/>
                </a:solidFill>
              </a:defRPr>
            </a:pPr>
            <a:r>
              <a:t>✔ 無料枠消費率: わずか 0.9% 未満</a:t>
            </a:r>
          </a:p>
          <a:p>
            <a:pPr>
              <a:spcAft>
                <a:spcPts val="1000"/>
              </a:spcAft>
              <a:defRPr sz="1100">
                <a:solidFill>
                  <a:srgbClr val="1E293B"/>
                </a:solidFill>
              </a:defRPr>
            </a:pPr>
            <a:r>
              <a:t>✔ 残存枠で十分なテスト・開発が可能</a:t>
            </a:r>
          </a:p>
        </p:txBody>
      </p:sp>
      <p:sp>
        <p:nvSpPr>
          <p:cNvPr id="8" name="Rounded Rectangle 7"/>
          <p:cNvSpPr/>
          <p:nvPr/>
        </p:nvSpPr>
        <p:spPr>
          <a:xfrm>
            <a:off x="4398264" y="1463040"/>
            <a:ext cx="336499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81144" y="1645920"/>
            <a:ext cx="2999232" cy="731520"/>
          </a:xfrm>
          <a:prstGeom prst="rect">
            <a:avLst/>
          </a:prstGeom>
          <a:noFill/>
        </p:spPr>
        <p:txBody>
          <a:bodyPr wrap="square">
            <a:spAutoFit/>
          </a:bodyPr>
          <a:lstStyle/>
          <a:p>
            <a:pPr>
              <a:defRPr sz="1400" b="1">
                <a:solidFill>
                  <a:srgbClr val="0F233C"/>
                </a:solidFill>
                <a:latin typeface="Meiryo"/>
              </a:defRPr>
            </a:pPr>
            <a:r>
              <a:t>Google Gemini API コスト</a:t>
            </a:r>
          </a:p>
          <a:p>
            <a:pPr>
              <a:spcAft>
                <a:spcPts val="1200"/>
              </a:spcAft>
              <a:defRPr b="1" sz="1200">
                <a:solidFill>
                  <a:srgbClr val="166534"/>
                </a:solidFill>
              </a:defRPr>
            </a:pPr>
            <a:r>
              <a:t>Free Tier (無料枠)</a:t>
            </a:r>
          </a:p>
        </p:txBody>
      </p:sp>
      <p:sp>
        <p:nvSpPr>
          <p:cNvPr id="10" name="TextBox 9"/>
          <p:cNvSpPr txBox="1"/>
          <p:nvPr/>
        </p:nvSpPr>
        <p:spPr>
          <a:xfrm>
            <a:off x="4581144" y="2468880"/>
            <a:ext cx="2999232" cy="3474720"/>
          </a:xfrm>
          <a:prstGeom prst="rect">
            <a:avLst/>
          </a:prstGeom>
          <a:noFill/>
        </p:spPr>
        <p:txBody>
          <a:bodyPr wrap="square">
            <a:spAutoFit/>
          </a:bodyPr>
          <a:lstStyle/>
          <a:p>
            <a:pPr>
              <a:spcAft>
                <a:spcPts val="1000"/>
              </a:spcAft>
              <a:defRPr sz="1100">
                <a:solidFill>
                  <a:srgbClr val="1E293B"/>
                </a:solidFill>
              </a:defRPr>
            </a:pPr>
            <a:r>
              <a:t>✔ 複数記事を一括プロンプトで要約</a:t>
            </a:r>
          </a:p>
          <a:p>
            <a:pPr>
              <a:spcAft>
                <a:spcPts val="1000"/>
              </a:spcAft>
              <a:defRPr sz="1100">
                <a:solidFill>
                  <a:srgbClr val="1E293B"/>
                </a:solidFill>
              </a:defRPr>
            </a:pPr>
            <a:r>
              <a:t>✔ 1日あたりわずか 1〜2回 のAPIコール</a:t>
            </a:r>
          </a:p>
          <a:p>
            <a:pPr>
              <a:spcAft>
                <a:spcPts val="1000"/>
              </a:spcAft>
              <a:defRPr sz="1100">
                <a:solidFill>
                  <a:srgbClr val="1E293B"/>
                </a:solidFill>
              </a:defRPr>
            </a:pPr>
            <a:r>
              <a:t>✔ Geminiの無料枠上限（15 RPM / 1,500 RPD）に対し余裕の運用</a:t>
            </a:r>
          </a:p>
          <a:p>
            <a:pPr>
              <a:spcAft>
                <a:spcPts val="1000"/>
              </a:spcAft>
              <a:defRPr sz="1100">
                <a:solidFill>
                  <a:srgbClr val="1E293B"/>
                </a:solidFill>
              </a:defRPr>
            </a:pPr>
            <a:r>
              <a:t>✔ API課金発生のリスクを構造的に遮断</a:t>
            </a:r>
          </a:p>
        </p:txBody>
      </p:sp>
      <p:sp>
        <p:nvSpPr>
          <p:cNvPr id="11" name="Rounded Rectangle 10"/>
          <p:cNvSpPr/>
          <p:nvPr/>
        </p:nvSpPr>
        <p:spPr>
          <a:xfrm>
            <a:off x="8065008" y="1463040"/>
            <a:ext cx="336499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7888" y="1645920"/>
            <a:ext cx="2999232" cy="731520"/>
          </a:xfrm>
          <a:prstGeom prst="rect">
            <a:avLst/>
          </a:prstGeom>
          <a:noFill/>
        </p:spPr>
        <p:txBody>
          <a:bodyPr wrap="square">
            <a:spAutoFit/>
          </a:bodyPr>
          <a:lstStyle/>
          <a:p>
            <a:pPr>
              <a:defRPr sz="1400" b="1">
                <a:solidFill>
                  <a:srgbClr val="0F233C"/>
                </a:solidFill>
                <a:latin typeface="Meiryo"/>
              </a:defRPr>
            </a:pPr>
            <a:r>
              <a:t>GitHub Pages 配信コスト</a:t>
            </a:r>
          </a:p>
          <a:p>
            <a:pPr>
              <a:spcAft>
                <a:spcPts val="1200"/>
              </a:spcAft>
              <a:defRPr b="1" sz="1200">
                <a:solidFill>
                  <a:srgbClr val="166534"/>
                </a:solidFill>
              </a:defRPr>
            </a:pPr>
            <a:r>
              <a:t>無期限 無料ホスティング</a:t>
            </a:r>
          </a:p>
        </p:txBody>
      </p:sp>
      <p:sp>
        <p:nvSpPr>
          <p:cNvPr id="13" name="TextBox 12"/>
          <p:cNvSpPr txBox="1"/>
          <p:nvPr/>
        </p:nvSpPr>
        <p:spPr>
          <a:xfrm>
            <a:off x="8247888" y="2468880"/>
            <a:ext cx="2999232" cy="3474720"/>
          </a:xfrm>
          <a:prstGeom prst="rect">
            <a:avLst/>
          </a:prstGeom>
          <a:noFill/>
        </p:spPr>
        <p:txBody>
          <a:bodyPr wrap="square">
            <a:spAutoFit/>
          </a:bodyPr>
          <a:lstStyle/>
          <a:p>
            <a:pPr>
              <a:spcAft>
                <a:spcPts val="1000"/>
              </a:spcAft>
              <a:defRPr sz="1100">
                <a:solidFill>
                  <a:srgbClr val="1E293B"/>
                </a:solidFill>
              </a:defRPr>
            </a:pPr>
            <a:r>
              <a:t>✔ 静的HTMLファイル配信のため負荷ゼロ</a:t>
            </a:r>
          </a:p>
          <a:p>
            <a:pPr>
              <a:spcAft>
                <a:spcPts val="1000"/>
              </a:spcAft>
              <a:defRPr sz="1100">
                <a:solidFill>
                  <a:srgbClr val="1E293B"/>
                </a:solidFill>
              </a:defRPr>
            </a:pPr>
            <a:r>
              <a:t>✔ 月間100GBの無料帯域枠</a:t>
            </a:r>
          </a:p>
          <a:p>
            <a:pPr>
              <a:spcAft>
                <a:spcPts val="1000"/>
              </a:spcAft>
              <a:defRPr sz="1100">
                <a:solidFill>
                  <a:srgbClr val="1E293B"/>
                </a:solidFill>
              </a:defRPr>
            </a:pPr>
            <a:r>
              <a:t>✔ サーバー保守・ドメイン代不要</a:t>
            </a:r>
          </a:p>
          <a:p>
            <a:pPr>
              <a:spcAft>
                <a:spcPts val="1000"/>
              </a:spcAft>
              <a:defRPr sz="1100">
                <a:solidFill>
                  <a:srgbClr val="1E293B"/>
                </a:solidFill>
              </a:defRPr>
            </a:pPr>
            <a:r>
              <a:t>✔ 独自証明書（HTTPS）も自動付与</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980B9"/>
                </a:solidFill>
                <a:latin typeface="Meiryo"/>
              </a:defRPr>
            </a:pPr>
            <a:r>
              <a:t>AI NEWS DIGEST ARCHITECTURE</a:t>
            </a:r>
          </a:p>
        </p:txBody>
      </p:sp>
      <p:sp>
        <p:nvSpPr>
          <p:cNvPr id="3" name="TextBox 2"/>
          <p:cNvSpPr txBox="1"/>
          <p:nvPr/>
        </p:nvSpPr>
        <p:spPr>
          <a:xfrm>
            <a:off x="731520" y="594360"/>
            <a:ext cx="10698480" cy="548640"/>
          </a:xfrm>
          <a:prstGeom prst="rect">
            <a:avLst/>
          </a:prstGeom>
          <a:noFill/>
        </p:spPr>
        <p:txBody>
          <a:bodyPr wrap="square">
            <a:spAutoFit/>
          </a:bodyPr>
          <a:lstStyle/>
          <a:p>
            <a:pPr>
              <a:defRPr sz="2200" b="1">
                <a:solidFill>
                  <a:srgbClr val="0F233C"/>
                </a:solidFill>
                <a:latin typeface="Meiryo"/>
              </a:defRPr>
            </a:pPr>
            <a:r>
              <a:t>毎朝の自動処理パイプライン: 5つのステップ</a:t>
            </a:r>
          </a:p>
        </p:txBody>
      </p:sp>
      <p:sp>
        <p:nvSpPr>
          <p:cNvPr id="4" name="Rectangle 3"/>
          <p:cNvSpPr/>
          <p:nvPr/>
        </p:nvSpPr>
        <p:spPr>
          <a:xfrm>
            <a:off x="731520" y="118872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698480"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627632"/>
            <a:ext cx="1005840" cy="493776"/>
          </a:xfrm>
          <a:prstGeom prst="roundRect">
            <a:avLst/>
          </a:prstGeom>
          <a:solidFill>
            <a:srgbClr val="1A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a:defRPr>
            </a:pPr>
            <a:r>
              <a:t>Step 1</a:t>
            </a:r>
          </a:p>
        </p:txBody>
      </p:sp>
      <p:sp>
        <p:nvSpPr>
          <p:cNvPr id="7" name="TextBox 6"/>
          <p:cNvSpPr txBox="1"/>
          <p:nvPr/>
        </p:nvSpPr>
        <p:spPr>
          <a:xfrm>
            <a:off x="2103120" y="1554480"/>
            <a:ext cx="9144000" cy="640080"/>
          </a:xfrm>
          <a:prstGeom prst="rect">
            <a:avLst/>
          </a:prstGeom>
          <a:noFill/>
        </p:spPr>
        <p:txBody>
          <a:bodyPr wrap="square">
            <a:spAutoFit/>
          </a:bodyPr>
          <a:lstStyle/>
          <a:p>
            <a:pPr>
              <a:defRPr sz="1300" b="1">
                <a:solidFill>
                  <a:srgbClr val="0F233C"/>
                </a:solidFill>
                <a:latin typeface="Meiryo"/>
              </a:defRPr>
            </a:pPr>
            <a:r>
              <a:t>Cronトリガー起動</a:t>
            </a:r>
          </a:p>
          <a:p>
            <a:pPr>
              <a:defRPr sz="1050">
                <a:solidFill>
                  <a:srgbClr val="64748B"/>
                </a:solidFill>
              </a:defRPr>
            </a:pPr>
            <a:r>
              <a:t>毎朝JST 6:30（UTC 21:30）にGitHub Actionsが自動起動。Ubuntu仮想環境を即座に立ち上げ。</a:t>
            </a:r>
          </a:p>
        </p:txBody>
      </p:sp>
      <p:sp>
        <p:nvSpPr>
          <p:cNvPr id="8" name="Rounded Rectangle 7"/>
          <p:cNvSpPr/>
          <p:nvPr/>
        </p:nvSpPr>
        <p:spPr>
          <a:xfrm>
            <a:off x="731520" y="2395728"/>
            <a:ext cx="10698480"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2560320"/>
            <a:ext cx="1005840" cy="493776"/>
          </a:xfrm>
          <a:prstGeom prst="roundRect">
            <a:avLst/>
          </a:prstGeom>
          <a:solidFill>
            <a:srgbClr val="1A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a:defRPr>
            </a:pPr>
            <a:r>
              <a:t>Step 2</a:t>
            </a:r>
          </a:p>
        </p:txBody>
      </p:sp>
      <p:sp>
        <p:nvSpPr>
          <p:cNvPr id="10" name="TextBox 9"/>
          <p:cNvSpPr txBox="1"/>
          <p:nvPr/>
        </p:nvSpPr>
        <p:spPr>
          <a:xfrm>
            <a:off x="2103120" y="2487168"/>
            <a:ext cx="9144000" cy="640080"/>
          </a:xfrm>
          <a:prstGeom prst="rect">
            <a:avLst/>
          </a:prstGeom>
          <a:noFill/>
        </p:spPr>
        <p:txBody>
          <a:bodyPr wrap="square">
            <a:spAutoFit/>
          </a:bodyPr>
          <a:lstStyle/>
          <a:p>
            <a:pPr>
              <a:defRPr sz="1300" b="1">
                <a:solidFill>
                  <a:srgbClr val="0F233C"/>
                </a:solidFill>
                <a:latin typeface="Meiryo"/>
              </a:defRPr>
            </a:pPr>
            <a:r>
              <a:t>RSSフェッチ &amp; フィルタ</a:t>
            </a:r>
          </a:p>
          <a:p>
            <a:pPr>
              <a:defRPr sz="1050">
                <a:solidFill>
                  <a:srgbClr val="64748B"/>
                </a:solidFill>
              </a:defRPr>
            </a:pPr>
            <a:r>
              <a:t>OpenAI、Google、TechCrunch等から最新記事を取得。URL重複を排除し最新順に整列。</a:t>
            </a:r>
          </a:p>
        </p:txBody>
      </p:sp>
      <p:sp>
        <p:nvSpPr>
          <p:cNvPr id="11" name="Rounded Rectangle 10"/>
          <p:cNvSpPr/>
          <p:nvPr/>
        </p:nvSpPr>
        <p:spPr>
          <a:xfrm>
            <a:off x="731520" y="3328416"/>
            <a:ext cx="10698480"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3493008"/>
            <a:ext cx="1005840" cy="493776"/>
          </a:xfrm>
          <a:prstGeom prst="roundRect">
            <a:avLst/>
          </a:prstGeom>
          <a:solidFill>
            <a:srgbClr val="1A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a:defRPr>
            </a:pPr>
            <a:r>
              <a:t>Step 3</a:t>
            </a:r>
          </a:p>
        </p:txBody>
      </p:sp>
      <p:sp>
        <p:nvSpPr>
          <p:cNvPr id="13" name="TextBox 12"/>
          <p:cNvSpPr txBox="1"/>
          <p:nvPr/>
        </p:nvSpPr>
        <p:spPr>
          <a:xfrm>
            <a:off x="2103120" y="3419856"/>
            <a:ext cx="9144000" cy="640080"/>
          </a:xfrm>
          <a:prstGeom prst="rect">
            <a:avLst/>
          </a:prstGeom>
          <a:noFill/>
        </p:spPr>
        <p:txBody>
          <a:bodyPr wrap="square">
            <a:spAutoFit/>
          </a:bodyPr>
          <a:lstStyle/>
          <a:p>
            <a:pPr>
              <a:defRPr sz="1300" b="1">
                <a:solidFill>
                  <a:srgbClr val="0F233C"/>
                </a:solidFill>
                <a:latin typeface="Meiryo"/>
              </a:defRPr>
            </a:pPr>
            <a:r>
              <a:t>Gemini一括要約</a:t>
            </a:r>
          </a:p>
          <a:p>
            <a:pPr>
              <a:defRPr sz="1050">
                <a:solidFill>
                  <a:srgbClr val="64748B"/>
                </a:solidFill>
              </a:defRPr>
            </a:pPr>
            <a:r>
              <a:t>上位記事を束ねてGemini APIへ投入。日本語タイトル、3行要点、重要ポイントを一括生成。</a:t>
            </a:r>
          </a:p>
        </p:txBody>
      </p:sp>
      <p:sp>
        <p:nvSpPr>
          <p:cNvPr id="14" name="Rounded Rectangle 13"/>
          <p:cNvSpPr/>
          <p:nvPr/>
        </p:nvSpPr>
        <p:spPr>
          <a:xfrm>
            <a:off x="731520" y="4261104"/>
            <a:ext cx="10698480"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4425696"/>
            <a:ext cx="1005840" cy="493776"/>
          </a:xfrm>
          <a:prstGeom prst="roundRect">
            <a:avLst/>
          </a:prstGeom>
          <a:solidFill>
            <a:srgbClr val="1A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a:defRPr>
            </a:pPr>
            <a:r>
              <a:t>Step 4</a:t>
            </a:r>
          </a:p>
        </p:txBody>
      </p:sp>
      <p:sp>
        <p:nvSpPr>
          <p:cNvPr id="16" name="TextBox 15"/>
          <p:cNvSpPr txBox="1"/>
          <p:nvPr/>
        </p:nvSpPr>
        <p:spPr>
          <a:xfrm>
            <a:off x="2103120" y="4352544"/>
            <a:ext cx="9144000" cy="640080"/>
          </a:xfrm>
          <a:prstGeom prst="rect">
            <a:avLst/>
          </a:prstGeom>
          <a:noFill/>
        </p:spPr>
        <p:txBody>
          <a:bodyPr wrap="square">
            <a:spAutoFit/>
          </a:bodyPr>
          <a:lstStyle/>
          <a:p>
            <a:pPr>
              <a:defRPr sz="1300" b="1">
                <a:solidFill>
                  <a:srgbClr val="0F233C"/>
                </a:solidFill>
                <a:latin typeface="Meiryo"/>
              </a:defRPr>
            </a:pPr>
            <a:r>
              <a:t>レスポンシブHTML生成</a:t>
            </a:r>
          </a:p>
          <a:p>
            <a:pPr>
              <a:defRPr sz="1050">
                <a:solidFill>
                  <a:srgbClr val="64748B"/>
                </a:solidFill>
              </a:defRPr>
            </a:pPr>
            <a:r>
              <a:t>Jinja2テンプレートにデータを注入。スマホ最適化・ダークモード対応の index.html を出力。</a:t>
            </a:r>
          </a:p>
        </p:txBody>
      </p:sp>
      <p:sp>
        <p:nvSpPr>
          <p:cNvPr id="17" name="Rounded Rectangle 16"/>
          <p:cNvSpPr/>
          <p:nvPr/>
        </p:nvSpPr>
        <p:spPr>
          <a:xfrm>
            <a:off x="731520" y="5193792"/>
            <a:ext cx="10698480"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4400" y="5358384"/>
            <a:ext cx="1005840" cy="493776"/>
          </a:xfrm>
          <a:prstGeom prst="roundRect">
            <a:avLst/>
          </a:prstGeom>
          <a:solidFill>
            <a:srgbClr val="1A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a:defRPr>
            </a:pPr>
            <a:r>
              <a:t>Step 5</a:t>
            </a:r>
          </a:p>
        </p:txBody>
      </p:sp>
      <p:sp>
        <p:nvSpPr>
          <p:cNvPr id="19" name="TextBox 18"/>
          <p:cNvSpPr txBox="1"/>
          <p:nvPr/>
        </p:nvSpPr>
        <p:spPr>
          <a:xfrm>
            <a:off x="2103120" y="5285232"/>
            <a:ext cx="9144000" cy="640080"/>
          </a:xfrm>
          <a:prstGeom prst="rect">
            <a:avLst/>
          </a:prstGeom>
          <a:noFill/>
        </p:spPr>
        <p:txBody>
          <a:bodyPr wrap="square">
            <a:spAutoFit/>
          </a:bodyPr>
          <a:lstStyle/>
          <a:p>
            <a:pPr>
              <a:defRPr sz="1300" b="1">
                <a:solidFill>
                  <a:srgbClr val="0F233C"/>
                </a:solidFill>
                <a:latin typeface="Meiryo"/>
              </a:defRPr>
            </a:pPr>
            <a:r>
              <a:t>自動コミット &amp; デプロイ</a:t>
            </a:r>
          </a:p>
          <a:p>
            <a:pPr>
              <a:defRPr sz="1050">
                <a:solidFill>
                  <a:srgbClr val="64748B"/>
                </a:solidFill>
              </a:defRPr>
            </a:pPr>
            <a:r>
              <a:t>GitHub Actions Botが docs/index.html をコミット＆Push。GitHub Pagesが即座に反映。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980B9"/>
                </a:solidFill>
                <a:latin typeface="Meiryo"/>
              </a:defRPr>
            </a:pPr>
            <a:r>
              <a:t>AI NEWS DIGEST ARCHITECTURE</a:t>
            </a:r>
          </a:p>
        </p:txBody>
      </p:sp>
      <p:sp>
        <p:nvSpPr>
          <p:cNvPr id="3" name="TextBox 2"/>
          <p:cNvSpPr txBox="1"/>
          <p:nvPr/>
        </p:nvSpPr>
        <p:spPr>
          <a:xfrm>
            <a:off x="731520" y="594360"/>
            <a:ext cx="10698480" cy="548640"/>
          </a:xfrm>
          <a:prstGeom prst="rect">
            <a:avLst/>
          </a:prstGeom>
          <a:noFill/>
        </p:spPr>
        <p:txBody>
          <a:bodyPr wrap="square">
            <a:spAutoFit/>
          </a:bodyPr>
          <a:lstStyle/>
          <a:p>
            <a:pPr>
              <a:defRPr sz="2200" b="1">
                <a:solidFill>
                  <a:srgbClr val="0F233C"/>
                </a:solidFill>
                <a:latin typeface="Meiryo"/>
              </a:defRPr>
            </a:pPr>
            <a:r>
              <a:t>拡張性と今後の展望: プラットフォームの発展性</a:t>
            </a:r>
          </a:p>
        </p:txBody>
      </p:sp>
      <p:sp>
        <p:nvSpPr>
          <p:cNvPr id="4" name="Rectangle 3"/>
          <p:cNvSpPr/>
          <p:nvPr/>
        </p:nvSpPr>
        <p:spPr>
          <a:xfrm>
            <a:off x="731520" y="118872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6984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72768"/>
            <a:ext cx="10149840" cy="822960"/>
          </a:xfrm>
          <a:prstGeom prst="rect">
            <a:avLst/>
          </a:prstGeom>
          <a:noFill/>
        </p:spPr>
        <p:txBody>
          <a:bodyPr wrap="square">
            <a:spAutoFit/>
          </a:bodyPr>
          <a:lstStyle/>
          <a:p>
            <a:pPr>
              <a:spcAft>
                <a:spcPts val="400"/>
              </a:spcAft>
              <a:defRPr sz="1500" b="1">
                <a:solidFill>
                  <a:srgbClr val="1A528A"/>
                </a:solidFill>
                <a:latin typeface="Meiryo"/>
              </a:defRPr>
            </a:pPr>
            <a:r>
              <a:t>◆ 情報源（ソース）の多角化</a:t>
            </a:r>
          </a:p>
          <a:p>
            <a:pPr>
              <a:defRPr sz="1100">
                <a:solidFill>
                  <a:srgbClr val="64748B"/>
                </a:solidFill>
              </a:defRPr>
            </a:pPr>
            <a:r>
              <a:t>現在は主要RSSが中心だが、ArXivの最新注目論文やHackerNews、AI開発者のX（旧Twitter）まとめなど、情報源を自在に追加・拡充可能。</a:t>
            </a:r>
          </a:p>
        </p:txBody>
      </p:sp>
      <p:sp>
        <p:nvSpPr>
          <p:cNvPr id="7" name="Rounded Rectangle 6"/>
          <p:cNvSpPr/>
          <p:nvPr/>
        </p:nvSpPr>
        <p:spPr>
          <a:xfrm>
            <a:off x="731520" y="2651760"/>
            <a:ext cx="106984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61488"/>
            <a:ext cx="10149840" cy="822960"/>
          </a:xfrm>
          <a:prstGeom prst="rect">
            <a:avLst/>
          </a:prstGeom>
          <a:noFill/>
        </p:spPr>
        <p:txBody>
          <a:bodyPr wrap="square">
            <a:spAutoFit/>
          </a:bodyPr>
          <a:lstStyle/>
          <a:p>
            <a:pPr>
              <a:spcAft>
                <a:spcPts val="400"/>
              </a:spcAft>
              <a:defRPr sz="1500" b="1">
                <a:solidFill>
                  <a:srgbClr val="1A528A"/>
                </a:solidFill>
                <a:latin typeface="Meiryo"/>
              </a:defRPr>
            </a:pPr>
            <a:r>
              <a:t>◆ マルチチャネル配信</a:t>
            </a:r>
          </a:p>
          <a:p>
            <a:pPr>
              <a:defRPr sz="1100">
                <a:solidFill>
                  <a:srgbClr val="64748B"/>
                </a:solidFill>
              </a:defRPr>
            </a:pPr>
            <a:r>
              <a:t>HTML生成に加え、Discord Webhook、LINE Messaging API、自分宛てメールなどへのマルチ配信も数行のコード追加で実現可能。</a:t>
            </a:r>
          </a:p>
        </p:txBody>
      </p:sp>
      <p:sp>
        <p:nvSpPr>
          <p:cNvPr id="9" name="Rounded Rectangle 8"/>
          <p:cNvSpPr/>
          <p:nvPr/>
        </p:nvSpPr>
        <p:spPr>
          <a:xfrm>
            <a:off x="731520" y="3840480"/>
            <a:ext cx="106984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950208"/>
            <a:ext cx="10149840" cy="822960"/>
          </a:xfrm>
          <a:prstGeom prst="rect">
            <a:avLst/>
          </a:prstGeom>
          <a:noFill/>
        </p:spPr>
        <p:txBody>
          <a:bodyPr wrap="square">
            <a:spAutoFit/>
          </a:bodyPr>
          <a:lstStyle/>
          <a:p>
            <a:pPr>
              <a:spcAft>
                <a:spcPts val="400"/>
              </a:spcAft>
              <a:defRPr sz="1500" b="1">
                <a:solidFill>
                  <a:srgbClr val="1A528A"/>
                </a:solidFill>
                <a:latin typeface="Meiryo"/>
              </a:defRPr>
            </a:pPr>
            <a:r>
              <a:t>◆ パーソナライズ要約</a:t>
            </a:r>
          </a:p>
          <a:p>
            <a:pPr>
              <a:defRPr sz="1100">
                <a:solidFill>
                  <a:srgbClr val="64748B"/>
                </a:solidFill>
              </a:defRPr>
            </a:pPr>
            <a:r>
              <a:t>関心のあるキーワード（例: 「画像生成」「オンデバイスAI」「LangChain」など）を指定し、重み付けや優先度判定をAIに行わせる高度化。</a:t>
            </a:r>
          </a:p>
        </p:txBody>
      </p:sp>
      <p:sp>
        <p:nvSpPr>
          <p:cNvPr id="11" name="Rounded Rectangle 10"/>
          <p:cNvSpPr/>
          <p:nvPr/>
        </p:nvSpPr>
        <p:spPr>
          <a:xfrm>
            <a:off x="731520" y="5029200"/>
            <a:ext cx="106984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138928"/>
            <a:ext cx="10149840" cy="822960"/>
          </a:xfrm>
          <a:prstGeom prst="rect">
            <a:avLst/>
          </a:prstGeom>
          <a:noFill/>
        </p:spPr>
        <p:txBody>
          <a:bodyPr wrap="square">
            <a:spAutoFit/>
          </a:bodyPr>
          <a:lstStyle/>
          <a:p>
            <a:pPr>
              <a:spcAft>
                <a:spcPts val="400"/>
              </a:spcAft>
              <a:defRPr sz="1500" b="1">
                <a:solidFill>
                  <a:srgbClr val="1A528A"/>
                </a:solidFill>
                <a:latin typeface="Meiryo"/>
              </a:defRPr>
            </a:pPr>
            <a:r>
              <a:t>◆ 過去ログのアーカイブ機能</a:t>
            </a:r>
          </a:p>
          <a:p>
            <a:pPr>
              <a:defRPr sz="1100">
                <a:solidFill>
                  <a:srgbClr val="64748B"/>
                </a:solidFill>
              </a:defRPr>
            </a:pPr>
            <a:r>
              <a:t>日別のまとめを docs/archives/ 配下に静的HTMLとして蓄積し、カレンダー形式で過去のニュースを検索・振り返り可能にする拡張。</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233C"/>
        </a:solidFill>
        <a:effectLst/>
      </p:bgPr>
    </p:bg>
    <p:spTree>
      <p:nvGrpSpPr>
        <p:cNvPr id="1" name=""/>
        <p:cNvGrpSpPr/>
        <p:nvPr/>
      </p:nvGrpSpPr>
      <p:grpSpPr/>
      <p:sp>
        <p:nvSpPr>
          <p:cNvPr id="2" name="Rounded Rectangle 1"/>
          <p:cNvSpPr/>
          <p:nvPr/>
        </p:nvSpPr>
        <p:spPr>
          <a:xfrm>
            <a:off x="1371600" y="1097280"/>
            <a:ext cx="944575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737360" y="1371600"/>
            <a:ext cx="8686800" cy="4114800"/>
          </a:xfrm>
          <a:prstGeom prst="rect">
            <a:avLst/>
          </a:prstGeom>
          <a:noFill/>
        </p:spPr>
        <p:txBody>
          <a:bodyPr wrap="square">
            <a:spAutoFit/>
          </a:bodyPr>
          <a:lstStyle/>
          <a:p>
            <a:pPr>
              <a:spcAft>
                <a:spcPts val="2000"/>
              </a:spcAft>
              <a:defRPr sz="2400" b="1">
                <a:solidFill>
                  <a:srgbClr val="0F233C"/>
                </a:solidFill>
                <a:latin typeface="Meiryo"/>
              </a:defRPr>
            </a:pPr>
            <a:r>
              <a:t>まとめ: サーバーレス個人DXの実現</a:t>
            </a:r>
          </a:p>
          <a:p>
            <a:pPr>
              <a:defRPr b="1" sz="1400">
                <a:solidFill>
                  <a:srgbClr val="1A528A"/>
                </a:solidFill>
                <a:latin typeface="Meiryo"/>
              </a:defRPr>
            </a:pPr>
            <a:r>
              <a:t>✔ 無料枠だけで実用システムは構築できる</a:t>
            </a:r>
          </a:p>
          <a:p>
            <a:pPr>
              <a:spcAft>
                <a:spcPts val="1400"/>
              </a:spcAft>
              <a:defRPr sz="1150">
                <a:solidFill>
                  <a:srgbClr val="64748B"/>
                </a:solidFill>
              </a:defRPr>
            </a:pPr>
            <a:r>
              <a:t>GitHub ActionsとGemini APIの無料枠を組み合わせることで、サーバー代もAPI費用も一切かけずに運用可能。</a:t>
            </a:r>
          </a:p>
          <a:p>
            <a:pPr>
              <a:defRPr b="1" sz="1400">
                <a:solidFill>
                  <a:srgbClr val="1A528A"/>
                </a:solidFill>
                <a:latin typeface="Meiryo"/>
              </a:defRPr>
            </a:pPr>
            <a:r>
              <a:t>✔ ブラウザ×PWAライクが最も持続可能</a:t>
            </a:r>
          </a:p>
          <a:p>
            <a:pPr>
              <a:spcAft>
                <a:spcPts val="1400"/>
              </a:spcAft>
              <a:defRPr sz="1150">
                <a:solidFill>
                  <a:srgbClr val="64748B"/>
                </a:solidFill>
              </a:defRPr>
            </a:pPr>
            <a:r>
              <a:t>アプリ開発・ストア公開・OSアップデート追従のコストを排除し、URL1本で全端末から閲覧できる身軽さを実現。</a:t>
            </a:r>
          </a:p>
          <a:p>
            <a:pPr>
              <a:defRPr b="1" sz="1400">
                <a:solidFill>
                  <a:srgbClr val="1A528A"/>
                </a:solidFill>
                <a:latin typeface="Meiryo"/>
              </a:defRPr>
            </a:pPr>
            <a:r>
              <a:t>✔ 自分専用の情報キュレーション</a:t>
            </a:r>
          </a:p>
          <a:p>
            <a:pPr>
              <a:spcAft>
                <a:spcPts val="1400"/>
              </a:spcAft>
              <a:defRPr sz="1150">
                <a:solidFill>
                  <a:srgbClr val="64748B"/>
                </a:solidFill>
              </a:defRPr>
            </a:pPr>
            <a:r>
              <a:t>既存のニュースアプリのような雑音（広告や無関係なニュース）を排し、純粋に知りたい情報だけを毎朝スキマ時間に摂取できる環境が完成。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